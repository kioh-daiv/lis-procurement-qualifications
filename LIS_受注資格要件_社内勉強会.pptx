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1629"/>
          </a:solidFill>
          <a:ln w="12700">
            <a:solidFill>
              <a:srgbClr val="0616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E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案件受注ガイド — 社内勉強会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案件受注のための資格要件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243584" cy="256032"/>
          </a:xfrm>
          <a:prstGeom prst="roundRect">
            <a:avLst>
              <a:gd name="adj" fmla="val 21429"/>
            </a:avLst>
          </a:prstGeom>
          <a:solidFill>
            <a:srgbClr val="1A3F6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組織認証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74520" y="2331720"/>
            <a:ext cx="1243584" cy="256032"/>
          </a:xfrm>
          <a:prstGeom prst="roundRect">
            <a:avLst>
              <a:gd name="adj" fmla="val 21429"/>
            </a:avLst>
          </a:prstGeom>
          <a:solidFill>
            <a:srgbClr val="1A3F6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33172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人材資格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1243584" cy="256032"/>
          </a:xfrm>
          <a:prstGeom prst="roundRect">
            <a:avLst>
              <a:gd name="adj" fmla="val 21429"/>
            </a:avLst>
          </a:prstGeom>
          <a:solidFill>
            <a:srgbClr val="1A3F6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33172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事業許可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26280" y="2331720"/>
            <a:ext cx="1243584" cy="256032"/>
          </a:xfrm>
          <a:prstGeom prst="roundRect">
            <a:avLst>
              <a:gd name="adj" fmla="val 21429"/>
            </a:avLst>
          </a:prstGeom>
          <a:solidFill>
            <a:srgbClr val="1A3F6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33172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入札資格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52160" y="2331720"/>
            <a:ext cx="1243584" cy="256032"/>
          </a:xfrm>
          <a:prstGeom prst="roundRect">
            <a:avLst>
              <a:gd name="adj" fmla="val 21429"/>
            </a:avLst>
          </a:prstGeom>
          <a:solidFill>
            <a:srgbClr val="1A3F6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233172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AWSパートナー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279806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受注できる事業者になるための 5 レイヤー × 必須度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E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社内勉強会  ／  2026年5月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1629"/>
          </a:solidFill>
          <a:ln w="12700">
            <a:solidFill>
              <a:srgbClr val="0616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E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案件受注ガイド — 社内勉強会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1207008"/>
          </a:xfrm>
          <a:prstGeom prst="roundRect">
            <a:avLst>
              <a:gd name="adj" fmla="val 6061"/>
            </a:avLst>
          </a:prstGeom>
          <a:solidFill>
            <a:srgbClr val="132C4F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347472" cy="1207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9576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3つの必須度と全体像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1371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BE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必須ゲート / 実質必須 / 加点・差別化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075688"/>
            <a:ext cx="4114800" cy="1207008"/>
          </a:xfrm>
          <a:prstGeom prst="roundRect">
            <a:avLst>
              <a:gd name="adj" fmla="val 6061"/>
            </a:avLst>
          </a:prstGeom>
          <a:solidFill>
            <a:srgbClr val="132C4F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75688"/>
            <a:ext cx="347472" cy="1207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78024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22585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組織の認証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26700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BE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ISMS / プライバシーマーク / ISMAP / ASPIC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374136"/>
            <a:ext cx="4114800" cy="1207008"/>
          </a:xfrm>
          <a:prstGeom prst="roundRect">
            <a:avLst>
              <a:gd name="adj" fmla="val 6061"/>
            </a:avLst>
          </a:prstGeom>
          <a:solidFill>
            <a:srgbClr val="132C4F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374136"/>
            <a:ext cx="347472" cy="1207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776472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35570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人の資格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3232" y="396849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BE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医療情報技師 / 臨床検査技師 / AWS 認定 / CISSP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777240"/>
            <a:ext cx="4114800" cy="1207008"/>
          </a:xfrm>
          <a:prstGeom prst="roundRect">
            <a:avLst>
              <a:gd name="adj" fmla="val 6061"/>
            </a:avLst>
          </a:prstGeom>
          <a:solidFill>
            <a:srgbClr val="132C4F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777240"/>
            <a:ext cx="347472" cy="1207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179576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02352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事業形態の許可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02352" y="1371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BE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機能トリガー型：LIS / SaMD / 衛生検査所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075688"/>
            <a:ext cx="4114800" cy="1207008"/>
          </a:xfrm>
          <a:prstGeom prst="roundRect">
            <a:avLst>
              <a:gd name="adj" fmla="val 6061"/>
            </a:avLst>
          </a:prstGeom>
          <a:solidFill>
            <a:srgbClr val="132C4F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075688"/>
            <a:ext cx="347472" cy="1207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478024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02352" y="22585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入札・調達資格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102352" y="26700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BE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公的 vs 民間 / 全省庁統一資格 / 自治体名簿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374136"/>
            <a:ext cx="4114800" cy="1207008"/>
          </a:xfrm>
          <a:prstGeom prst="roundRect">
            <a:avLst>
              <a:gd name="adj" fmla="val 6061"/>
            </a:avLst>
          </a:prstGeom>
          <a:solidFill>
            <a:srgbClr val="132C4F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374136"/>
            <a:ext cx="347472" cy="1207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776472"/>
            <a:ext cx="347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3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02352" y="35570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パートナー認定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102352" y="396849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BE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ティア積み上げ / HCLS Competency / Migration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LIS クラウド化 案件受注ガイド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50292"/>
            <a:ext cx="9144000" cy="71323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3つの必須度で読む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763524"/>
            <a:ext cx="914400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26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受注の可否 → 選定前提 → 競争優位の 3 段階で全項目を整理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FFF5F5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70432"/>
            <a:ext cx="54864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261872"/>
            <a:ext cx="914400" cy="173736"/>
          </a:xfrm>
          <a:prstGeom prst="roundRect">
            <a:avLst>
              <a:gd name="adj" fmla="val 2105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61872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必須ゲート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481328" y="120700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これがないと入れない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1591056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入札に参加できない、または事業形態上の許可を欠けば違法になる。全省庁統一資格・ISMAP（公的クラウド）が典型。これが欠けると入札参加の機会すら存在しない。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267712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FFFDF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67712"/>
            <a:ext cx="54864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59152"/>
            <a:ext cx="914400" cy="173736"/>
          </a:xfrm>
          <a:prstGeom prst="roundRect">
            <a:avLst>
              <a:gd name="adj" fmla="val 2105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59152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481328" y="230428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ないと選ばれない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688336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法的な絶対要件ではないが、選定の前提条件。ISMS・プライバシーマーク・医療情報技師・3省2GL 準拠表明が該当。これがないと選定テーブルに乗れない。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364992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364992"/>
            <a:ext cx="54864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56432"/>
            <a:ext cx="914400" cy="173736"/>
          </a:xfrm>
          <a:prstGeom prst="roundRect">
            <a:avLst>
              <a:gd name="adj" fmla="val 2105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56432"/>
            <a:ext cx="914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加点・差別化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481328" y="340156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あると勝てる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785616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総合評価・プロポーザルでの加点、医療業界の信頼・専門性の証明。AWS HCLS Competency・CISSP・上級医療情報技師が典型。競争を勝ち抜く差別化要素。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LIS クラウド化 案件受注ガイド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50292"/>
            <a:ext cx="9144000" cy="71323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必須度マトリクス（主要項目）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763524"/>
            <a:ext cx="914400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26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レイヤー × 必須度で整理した資格・要件の全体像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8595360" cy="25603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097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資格・要件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785616" y="1097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レイヤー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02936" y="1097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必須度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40296" y="10972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いつ効くか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353312"/>
            <a:ext cx="8595360" cy="4251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371600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全省庁統一資格（国・独法入札）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794760" y="1371600"/>
            <a:ext cx="1298448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入札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184648" y="1444752"/>
            <a:ext cx="1591056" cy="219456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4648" y="1444752"/>
            <a:ext cx="1591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必須ゲート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931152" y="1371600"/>
            <a:ext cx="18745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国・国立病院機構の入札参加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74320" y="1787652"/>
            <a:ext cx="8595360" cy="42519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805940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自治体 入札参加資格者名簿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794760" y="1805940"/>
            <a:ext cx="1298448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入札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184648" y="1879092"/>
            <a:ext cx="1591056" cy="219456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4648" y="1879092"/>
            <a:ext cx="1591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必須ゲート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931152" y="1805940"/>
            <a:ext cx="18745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自治体立病院の入札参加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74320" y="2221992"/>
            <a:ext cx="8595360" cy="4251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240280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ISMAP 登録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794760" y="2240280"/>
            <a:ext cx="1298448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入札/認証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184648" y="2313432"/>
            <a:ext cx="1591056" cy="219456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84648" y="2313432"/>
            <a:ext cx="1591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必須ゲート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931152" y="2240280"/>
            <a:ext cx="18745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クラウドで国・独法を狙う時（原則）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74320" y="2656332"/>
            <a:ext cx="8595360" cy="42519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674620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ISMS（JIS Q 27001:2023）＋ ISO 27017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794760" y="2674620"/>
            <a:ext cx="1298448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組織認証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184648" y="2747772"/>
            <a:ext cx="1591056" cy="219456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84648" y="2747772"/>
            <a:ext cx="1591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931152" y="2674620"/>
            <a:ext cx="18745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クラウド提供の選定前提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74320" y="3090672"/>
            <a:ext cx="8595360" cy="4251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108960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プライバシーマーク（JIS Q 15001:2023）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794760" y="3108960"/>
            <a:ext cx="1298448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組織認証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184648" y="3182112"/>
            <a:ext cx="1591056" cy="219456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84648" y="3182112"/>
            <a:ext cx="1591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931152" y="3108960"/>
            <a:ext cx="18745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個人情報取扱事業者の信頼担保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74320" y="3525012"/>
            <a:ext cx="8595360" cy="42519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543300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医療情報技師 ＋ 3省2GL 準拠表明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794760" y="3543300"/>
            <a:ext cx="1298448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184648" y="3616452"/>
            <a:ext cx="1591056" cy="219456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84648" y="3616452"/>
            <a:ext cx="1591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6931152" y="3543300"/>
            <a:ext cx="18745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調達仕様書に「望ましい」と明記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74320" y="3959352"/>
            <a:ext cx="8595360" cy="4251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977640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HCLS Competency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794760" y="3977640"/>
            <a:ext cx="1298448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パートナー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184648" y="4050792"/>
            <a:ext cx="1591056" cy="219456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84648" y="4050792"/>
            <a:ext cx="1591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加点・差別化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6931152" y="3977640"/>
            <a:ext cx="18745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医療で AWS 公認＋共同営業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74320" y="4393692"/>
            <a:ext cx="8595360" cy="42519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4411980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Security-Specialty ＋ CISSP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3794760" y="4411980"/>
            <a:ext cx="1298448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184648" y="4485132"/>
            <a:ext cx="1591056" cy="219456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84648" y="4485132"/>
            <a:ext cx="1591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加点・差別化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6931152" y="4411980"/>
            <a:ext cx="18745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医療×クラウドの信頼の核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LIS クラウド化 案件受注ガイド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50292"/>
            <a:ext cx="9144000" cy="71323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押さえるべき 3 つの構造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763524"/>
            <a:ext cx="914400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26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受注設計の前提となるロジックを理解する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8595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2336" y="1444752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4447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124358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業許可は「機能トリガー」式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9264" y="1609344"/>
            <a:ext cx="77724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通常の LIS（保管・伝送・表示のみ）は薬機法の業許可がすべて不要。診断支援 AI を載せれば SaMD（製造販売業許可）、検体検査を受託すれば衛生検査所登録が発生する。スコープを切れば許可なしで提供できる。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359152"/>
            <a:ext cx="8595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2336" y="263347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633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243230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個人認定が組織の格を決める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9264" y="2798064"/>
            <a:ext cx="77724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パートナーティアも HCLS Competency も「所属エンジニアの Professional/Specialty 認定数」が要件。CISSP・医療情報技師も同じ構造。人を試験に通す投資が、組織の信頼・ティア・受注力に直結する。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547872"/>
            <a:ext cx="8595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2336" y="3822192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3822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9264" y="362102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公的と民間は別ルール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9264" y="3986784"/>
            <a:ext cx="77724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公的病院は入札資格（全省庁統一/自治体名簿）が製品力以前の前提。民間病院は随意契約で資格不要、製品力・関係性・3省2GL 準拠が勝負どころ。どこを主戦場に置くかで取得すべき資格が変わる。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LIS クラウド化 案件受注ガイド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50292"/>
            <a:ext cx="9144000" cy="71323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投資のロードマップ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763524"/>
            <a:ext cx="914400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26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 → 2 → 3 で積み上げる受注力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133856"/>
            <a:ext cx="2359152" cy="2651760"/>
          </a:xfrm>
          <a:prstGeom prst="roundRect">
            <a:avLst>
              <a:gd name="adj" fmla="val 387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225296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140817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基盤固め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773936"/>
            <a:ext cx="2176272" cy="0"/>
          </a:xfrm>
          <a:prstGeom prst="line">
            <a:avLst/>
          </a:prstGeom>
          <a:noFill/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84708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ISMS ＋ ISO 27017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2249424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プライバシーマーク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265176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AWS APN → Select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2176272" cy="219456"/>
          </a:xfrm>
          <a:prstGeom prst="roundRect">
            <a:avLst>
              <a:gd name="adj" fmla="val 208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7472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907792" y="1133856"/>
            <a:ext cx="2359152" cy="2651760"/>
          </a:xfrm>
          <a:prstGeom prst="roundRect">
            <a:avLst>
              <a:gd name="adj" fmla="val 3876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99232" y="1225296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999232" y="140817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入札参加資格を得る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99232" y="1773936"/>
            <a:ext cx="2176272" cy="0"/>
          </a:xfrm>
          <a:prstGeom prst="line">
            <a:avLst/>
          </a:prstGeom>
          <a:noFill/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5808" y="184708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全省庁統一資格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35808" y="2249424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ターゲット自治体 名簿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35808" y="265176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ISMAP（公的クラウド）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99232" y="3474720"/>
            <a:ext cx="2176272" cy="219456"/>
          </a:xfrm>
          <a:prstGeom prst="roundRect">
            <a:avLst>
              <a:gd name="adj" fmla="val 208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47472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必須ゲート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541264" y="1133856"/>
            <a:ext cx="2359152" cy="2651760"/>
          </a:xfrm>
          <a:prstGeom prst="roundRect">
            <a:avLst>
              <a:gd name="adj" fmla="val 387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32704" y="1225296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32704" y="140817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医療で差別化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32704" y="1773936"/>
            <a:ext cx="2176272" cy="0"/>
          </a:xfrm>
          <a:prstGeom prst="line">
            <a:avLst/>
          </a:prstGeom>
          <a:noFill/>
          <a:ln w="12700">
            <a:solidFill>
              <a:srgbClr val="A7F3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184708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HCLS Competency（事例4件）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69280" y="2249424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Migration Competency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69280" y="265176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ASPIC / HISPRO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32704" y="3474720"/>
            <a:ext cx="2176272" cy="219456"/>
          </a:xfrm>
          <a:prstGeom prst="roundRect">
            <a:avLst>
              <a:gd name="adj" fmla="val 208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32704" y="347472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加点・差別化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79192" y="2139696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12664" y="2139696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138160" y="1499616"/>
            <a:ext cx="731520" cy="192024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1728216"/>
            <a:ext cx="731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力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936992" y="2139696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2926080" y="39319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↑ この土台が全フェーズを支える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4151376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0E2340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151376"/>
            <a:ext cx="1097280" cy="62179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151376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481328" y="4187952"/>
            <a:ext cx="7269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個人認定の育成 ── 医療情報技師 + AWS（CP→SAA→SAP/Security）+ CISSP + 登録セキスペ + 臨床検査技師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4D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1629"/>
          </a:solidFill>
          <a:ln w="12700">
            <a:solidFill>
              <a:srgbClr val="0616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E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案件受注ガイド — 社内勉強会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組織の認証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ISMS  ／  プライバシーマーク  ／  ISMAP  ／  ASPIC / HISPRO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2971800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1A3F6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9718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297180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1A3F6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971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公的調達で必須ゲート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937760" y="297180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1A3F6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9718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加点・差別化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LIS クラウド化 案件受注ガイド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50292"/>
            <a:ext cx="9144000" cy="71323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組織の認証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763524"/>
            <a:ext cx="914400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26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ISMS / プライバシーマーク / ISMAP / ASPIC・HISPRO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420624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261872"/>
            <a:ext cx="960120" cy="173736"/>
          </a:xfrm>
          <a:prstGeom prst="roundRect">
            <a:avLst>
              <a:gd name="adj" fmla="val 2105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61872"/>
            <a:ext cx="960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84048" y="14904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ISMS（JIS Q 27001:2023）＋ ISO 27017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188366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情報セキュリティマネジメントの認証。JIS Q 27001:2023（旧版移行期限2025-10-31）。3省2GL が安全管理体制の中核として明記。クラウド提供では 27017 とセットで実質必須。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663440" y="1170432"/>
            <a:ext cx="420624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73168" y="1261872"/>
            <a:ext cx="960120" cy="173736"/>
          </a:xfrm>
          <a:prstGeom prst="roundRect">
            <a:avLst>
              <a:gd name="adj" fmla="val 2105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261872"/>
            <a:ext cx="960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773168" y="14904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プライバシーマーク（JIS Q 15001:2023）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73168" y="1883664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個人情報保護マネジメントの認証（JIPDEC）。入札では「Pマーク or ISMS のいずれか保有」で条件クリアとする公告が多い。要配慮個人情報を扱う事業者の信頼の土台。ISMS と並行取得可。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420624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688336"/>
            <a:ext cx="960120" cy="173736"/>
          </a:xfrm>
          <a:prstGeom prst="roundRect">
            <a:avLst>
              <a:gd name="adj" fmla="val 2105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688336"/>
            <a:ext cx="960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公的調達で必須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84048" y="291693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ISMAP / ISMAP-LIU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331012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国の機関・独法のクラウド調達は原則 ISMAP リストから。LIS は要配慮個人情報を扱うため本体側（ISMAP）が筋。第三者監査が要り投資判断が必要。民間病院中心なら後回し可。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663440" y="2596896"/>
            <a:ext cx="420624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2688336"/>
            <a:ext cx="960120" cy="173736"/>
          </a:xfrm>
          <a:prstGeom prst="roundRect">
            <a:avLst>
              <a:gd name="adj" fmla="val 2105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688336"/>
            <a:ext cx="9601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加点（医療訴求）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773168" y="291693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ASPIC 医療情報認定 ／ HISPRO 適合性評価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73168" y="331012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医療特化の第三者認定。ASPIC は医療情報 ASP・SaaS 安全性の情報開示認定、HISPRO は 3省2GL 適合の第三者点検。医療機関の調達担当への提案で訴求力が高い差別化材料。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22C22"/>
          </a:solidFill>
          <a:ln w="12700">
            <a:solidFill>
              <a:srgbClr val="022C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E7B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案件受注ガイド — 社内勉強会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人の資格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医療情報技師  ／  臨床検査技師  ／  AWS 認定  ／  CISSP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2971800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065F4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9718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47872" y="2971800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65F4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29718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ドメイン必須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72584" y="297180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065F46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29718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加点・差別化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LIS クラウド化 案件受注ガイド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50292"/>
            <a:ext cx="9144000" cy="71323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人の資格（医療・ドメイン系）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763524"/>
            <a:ext cx="914400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26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案件の提案・体制を支える資格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261872"/>
            <a:ext cx="868680" cy="173736"/>
          </a:xfrm>
          <a:prstGeom prst="roundRect">
            <a:avLst>
              <a:gd name="adj" fmla="val 2105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61872"/>
            <a:ext cx="868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実質必須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325880" y="1207008"/>
            <a:ext cx="7452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医療情報技師 ／ 上級医療情報技師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591056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調達仕様書（NCVC 等）に「望ましい資格」と明記。提案・要件定義の顔。上級は医療情報技師＋実務5年で受検可能で、DX 推進統括人材としてさらに加点。最優先で確保。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377440"/>
            <a:ext cx="868680" cy="173736"/>
          </a:xfrm>
          <a:prstGeom prst="roundRect">
            <a:avLst>
              <a:gd name="adj" fmla="val 2105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377440"/>
            <a:ext cx="868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ドメイン必須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325880" y="2322576"/>
            <a:ext cx="7452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臨床検査技師 ／ 精度管理責任者 ／ 細胞検査士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70662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LIS＝検体検査の業務理解の中心。社内に1名いるだけで要件定義の精度が大きく上がる。検査受託に踏み込むなら精度管理責任者（検体検査6年＋精度管理3年）が必要。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401568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493008"/>
            <a:ext cx="868680" cy="173736"/>
          </a:xfrm>
          <a:prstGeom prst="roundRect">
            <a:avLst>
              <a:gd name="adj" fmla="val 2105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93008"/>
            <a:ext cx="868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加点・実務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25880" y="3438144"/>
            <a:ext cx="7452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情報処理安全確保支援士（登録セキスペ）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82219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3省2GL のセキュリティ体制説明・安全管理責任者の裏付け。クラウド案件の責任分界説明者として特に重い。政府調達でセキュリティ人材要件として評価されやすい。（3年更新・講習義務）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LIS クラウド化 案件受注ガイド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50292"/>
            <a:ext cx="9144000" cy="71323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人の資格（クラウド・開発技術系）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763524"/>
            <a:ext cx="914400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26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認定 / CISSP / チーム最低構成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50292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261872"/>
            <a:ext cx="1188720" cy="173736"/>
          </a:xfrm>
          <a:prstGeom prst="roundRect">
            <a:avLst>
              <a:gd name="adj" fmla="val 2105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61872"/>
            <a:ext cx="1188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医療×クラウドの核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84048" y="1490472"/>
            <a:ext cx="4800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Security-Specialty ＋ CISSP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1847088"/>
            <a:ext cx="4800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医療機微情報案件の信頼と提案加点の中心。Security-Specialty は暗号化・ログ監視・ガバナンスの技術実装を証明し、CISSP は組織のセキュリティ統括を証明。補完関係で大型公共入札への加点が大きい。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74320" y="2596896"/>
            <a:ext cx="5029200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688336"/>
            <a:ext cx="1188720" cy="173736"/>
          </a:xfrm>
          <a:prstGeom prst="roundRect">
            <a:avLst>
              <a:gd name="adj" fmla="val 2105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88336"/>
            <a:ext cx="1188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設計・構築・運用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84048" y="2916936"/>
            <a:ext cx="4800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認定（SAA→SAP / DevOps Pro）＋ Terraform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3273552"/>
            <a:ext cx="4800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SAA＝構築の中核、SAP＝設計力の最上位。DevOps Pro＝運用自動化。これらの保有数が AWS パートナーティアの要件を満たす。Terraform 004（2026-01 切替）で IaC 標準を整備。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486400" y="1170432"/>
            <a:ext cx="3383280" cy="2670048"/>
          </a:xfrm>
          <a:prstGeom prst="roundRect">
            <a:avLst>
              <a:gd name="adj" fmla="val 274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チーム最低構成（小規模ベンダー）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77840" y="1536192"/>
            <a:ext cx="3200400" cy="0"/>
          </a:xfrm>
          <a:prstGeom prst="line">
            <a:avLst/>
          </a:prstGeom>
          <a:noFill/>
          <a:ln w="12700">
            <a:solidFill>
              <a:srgbClr val="A7F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14416" y="1609344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97296" y="1581912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上級医療情報技師 + 登録セキスペ（兼任）×1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614416" y="1993392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97296" y="1965960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高度区分 IPA（PM or SA）×1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614416" y="2377440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97296" y="2350008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臨床検査技師 ×1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614416" y="2761488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97296" y="2734056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Security-Specialty + CISSP ×1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614416" y="3145536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97296" y="3118104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SA Associate ×複数（うち1名 SAP）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402336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11480" y="408736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14400" y="4059936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Database-Specialty は 2024-04 廃止。Terraform Associate は 2026-01 に 003→004 切替。AWS 系資格は3年で更新（維持コスト要考慮）。提案資料に古い情報を載せないこと。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51A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0A00"/>
          </a:solidFill>
          <a:ln w="12700">
            <a:solidFill>
              <a:srgbClr val="1C0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DE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案件受注ガイド — 社内勉強会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事業形態の許可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機能トリガー型  ／  通常 LIS  ／  SaMD  ／  衛生検査所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2944368"/>
            <a:ext cx="5486400" cy="438912"/>
          </a:xfrm>
          <a:prstGeom prst="roundRect">
            <a:avLst>
              <a:gd name="adj" fmla="val 16667"/>
            </a:avLst>
          </a:prstGeom>
          <a:solidFill>
            <a:srgbClr val="78350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944368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通常の LIS は薬機法の業許可がすべて不要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LIS クラウド化 案件受注ガイド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50292"/>
            <a:ext cx="9144000" cy="71323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事業形態の許可（機能トリガー型）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763524"/>
            <a:ext cx="914400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26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機能を載せた瞬間に発生する。スコープ設計が業許可コストを決める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8595360" cy="1060704"/>
          </a:xfrm>
          <a:prstGeom prst="roundRect">
            <a:avLst>
              <a:gd name="adj" fmla="val 689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1521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[A] 保管・伝送・表示のみ  ＝  通常の LIS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検査結果の入力・管理・保管・伝送・表示、オーダー連携、レポート出力。データの加工・処理を伴わない。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755648"/>
            <a:ext cx="8229600" cy="0"/>
          </a:xfrm>
          <a:prstGeom prst="line">
            <a:avLst/>
          </a:prstGeom>
          <a:noFill/>
          <a:ln w="12700">
            <a:solidFill>
              <a:srgbClr val="A7F3D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11480" y="1792224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医療機器に非該当。薬機法の業許可はすべて不要。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8595360" cy="1060704"/>
          </a:xfrm>
          <a:prstGeom prst="roundRect">
            <a:avLst>
              <a:gd name="adj" fmla="val 689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322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[B] 診断/治療に用いる加工・判定を載せる  ＝  SaMD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26060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病理 AI 画像診断支援、検査値からの疾病候補・リスク表示、治療計画決定支援など。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926080"/>
            <a:ext cx="8229600" cy="0"/>
          </a:xfrm>
          <a:prstGeom prst="line">
            <a:avLst/>
          </a:prstGeom>
          <a:noFill/>
          <a:ln w="12700">
            <a:solidFill>
              <a:srgbClr val="FDE68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11480" y="2962656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SaMD に該当。製造販売業許可（クラス別）＋ 製造業登録 ＋ QMS 適合 ＋ 製品ごと承認/認証/届出。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438144"/>
            <a:ext cx="8595360" cy="1060704"/>
          </a:xfrm>
          <a:prstGeom prst="roundRect">
            <a:avLst>
              <a:gd name="adj" fmla="val 689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4930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[C] 検体検査を業として受託  ＝  検査機関側になる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37764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検体を預かり微生物・病理・生化学等の検査を実施して結果を返す。遠隔病理診断で自社が検査機関側になる場合も該当。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4096512"/>
            <a:ext cx="822960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11480" y="413308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衛生検査所の登録（臨技法20条の3）。薬機法ではなく臨技法の問題。[B] と併存しうる。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1629"/>
          </a:solidFill>
          <a:ln w="12700">
            <a:solidFill>
              <a:srgbClr val="0616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E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案件受注ガイド — 社内勉強会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入札・調達資格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公的病院  ／  全省庁統一資格  ／  自治体名簿  ／  ISMAP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297180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132C4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9718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必須ゲート（公的）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43400" y="297180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132C4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9718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準備は事前に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LIS クラウド化 案件受注ガイド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50292"/>
            <a:ext cx="9144000" cy="71323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入札・調達資格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763524"/>
            <a:ext cx="914400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26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公的病院（一般競争入札）vs 民間病院（随意契約）の構造の違い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8595360" cy="246888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78992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18488" y="1078992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公的病院（国・独法・自治体）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02936" y="1078992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民間病院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32588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5331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選定方式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618488" y="1353312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原則 一般競争入札。大型は総合評価方式 or プロポーザル（技術点＋価格点）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202936" y="13533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随意契約。価格・機能・関係性で自由に選定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1801368"/>
            <a:ext cx="859536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82880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入札参加資格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618488" y="1828800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全省庁統一資格（国・独法）または自治体名簿登録が必須。等級・営業品目の指定あり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202936" y="182880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不要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2276856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30428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認証要件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18488" y="2304288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Pマーク/ISMS が条件 or 加点。クラウドは ISMAP（国・独法は原則必須）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02936" y="23042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必須ではない。3省2GL 準拠は実務上ほぼ必須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2752344"/>
            <a:ext cx="8595360" cy="4572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77977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営業上の含意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618488" y="2779776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資格を事前に整えないと入札参加すらできない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202936" y="277977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製品力・サポート・価格交渉が勝負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3255264"/>
            <a:ext cx="8595360" cy="585216"/>
          </a:xfrm>
          <a:prstGeom prst="roundRect">
            <a:avLst>
              <a:gd name="adj" fmla="val 93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11480" y="329184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全省庁統一資格（必須ゲート）: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1480" y="351129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物品の販売 + 役務の提供等で申請。調達ポータルからオンライン、最大3年（令和7・8・9年度）。等級 A〜D（D は多くの病院情報システム案件で対象外）。先回りして申請し等級 A〜C を狙う。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8595360" cy="841248"/>
          </a:xfrm>
          <a:prstGeom prst="roundRect">
            <a:avLst>
              <a:gd name="adj" fmla="val 652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977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事前準備チェック（優先順）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4178808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全省庁統一資格を「物品の販売」+「役務の提供等」で申請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09160" y="4178808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主要ターゲット自治体の入札参加資格者名簿に登録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11480" y="4453128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Pマーク or ISMS（+27017）を取得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09160" y="4453128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3省2GL 準拠を文書化・準拠表明できる状態に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0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001A"/>
          </a:solidFill>
          <a:ln w="12700">
            <a:solidFill>
              <a:srgbClr val="0D0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4B5F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案件受注ガイド — 社内勉強会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パートナー認定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ティア積み上げ  ／  HCLS Competency  ／  Migration Competency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2944368"/>
            <a:ext cx="5486400" cy="438912"/>
          </a:xfrm>
          <a:prstGeom prst="roundRect">
            <a:avLst>
              <a:gd name="adj" fmla="val 16667"/>
            </a:avLst>
          </a:prstGeom>
          <a:solidFill>
            <a:srgbClr val="3B076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944368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人を試験に通す投資が組織のティアと受注力に直結する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LIS クラウド化 案件受注ガイド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50292"/>
            <a:ext cx="9144000" cy="713232"/>
          </a:xfrm>
          <a:prstGeom prst="rect">
            <a:avLst/>
          </a:prstGeom>
          <a:solidFill>
            <a:srgbClr val="0E4D92"/>
          </a:solidFill>
          <a:ln w="12700">
            <a:solidFill>
              <a:srgbClr val="0E4D9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4008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パートナー認定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763524"/>
            <a:ext cx="914400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26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個人認定 → 組織ティア → HCLS Competency の積み上げ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152144"/>
            <a:ext cx="8595360" cy="457200"/>
          </a:xfrm>
          <a:prstGeom prst="rect">
            <a:avLst/>
          </a:prstGeom>
          <a:solidFill>
            <a:srgbClr val="134E4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88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個人の AWS 認定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21408" y="1188720"/>
            <a:ext cx="6629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Foundational（Cloud Practitioner）/ Associate（SAA）/ Professional（SAP）/ Specialty（Security 等）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8595360" cy="457200"/>
          </a:xfrm>
          <a:prstGeom prst="rect">
            <a:avLst/>
          </a:prstGeom>
          <a:solidFill>
            <a:srgbClr val="164E63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642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Select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21408" y="1664208"/>
            <a:ext cx="6629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技術認定 2名 ／ launched 3件・MRR ≥ $1,500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859536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1396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Advanced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21408" y="2139696"/>
            <a:ext cx="6629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技術認定 6名（うち Pro/Specialty 3名以上）／ launched 20件・MRR ≥ $10,000  ← HCLS Competency の前提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74320" y="2578608"/>
            <a:ext cx="8595360" cy="457200"/>
          </a:xfrm>
          <a:prstGeom prst="rect">
            <a:avLst/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61518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Premier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21408" y="2615184"/>
            <a:ext cx="6629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技術認定 25名（うち Pro/Specialty 10名以上）／ launched 50件・MRR ≥ $50,000・Competency 3件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828800" y="3054096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↑ 個人の Professional/Specialty 認定数が組織ティアを押し上げる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364992"/>
            <a:ext cx="42062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3456432"/>
            <a:ext cx="1188720" cy="173736"/>
          </a:xfrm>
          <a:prstGeom prst="roundRect">
            <a:avLst>
              <a:gd name="adj" fmla="val 2105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456432"/>
            <a:ext cx="1188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医療の主要差別化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84048" y="367588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HCLS（ヘルスケア）Competency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" y="4023360"/>
            <a:ext cx="39776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Advanced ティアが前提。医療本番稼働事例4件（うち2件公開可）＋技術検証・監査。取得すれば医療提案の大きな差別化になり AWS 共同営業へのアクセス。事例のリードタイムが長く最終目標として計画。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3364992"/>
            <a:ext cx="42062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3456432"/>
            <a:ext cx="1188720" cy="173736"/>
          </a:xfrm>
          <a:prstGeom prst="roundRect">
            <a:avLst>
              <a:gd name="adj" fmla="val 2105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456432"/>
            <a:ext cx="11887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移行案件の価格競争力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773168" y="367588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Migration Competency ＋ MAP 資金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4023360"/>
            <a:ext cx="39776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大規模移行の実績・体制・技術力の検証。MAP（Migration Acceleration Program）資金で顧客の初期移行コストを相殺できる。既存 LIS→クラウド移行が主戦場なら優先度が高い。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61629"/>
          </a:solidFill>
          <a:ln w="12700">
            <a:solidFill>
              <a:srgbClr val="0616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965192"/>
            <a:ext cx="8686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E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クラウド化 案件受注ガイド — 社内勉強会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914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4297680" cy="1298448"/>
          </a:xfrm>
          <a:prstGeom prst="roundRect">
            <a:avLst>
              <a:gd name="adj" fmla="val 7042"/>
            </a:avLst>
          </a:prstGeom>
          <a:solidFill>
            <a:srgbClr val="132C4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40080"/>
            <a:ext cx="384048" cy="12984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6070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731520"/>
            <a:ext cx="3730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入札資格は製品より先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1133856"/>
            <a:ext cx="37307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公的病院を狙うなら全省庁統一資格・自治体名簿を事前取得。資格がなければ入札参加の機会すら存在しない。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46320" y="640080"/>
            <a:ext cx="4297680" cy="1298448"/>
          </a:xfrm>
          <a:prstGeom prst="roundRect">
            <a:avLst>
              <a:gd name="adj" fmla="val 7042"/>
            </a:avLst>
          </a:prstGeom>
          <a:solidFill>
            <a:srgbClr val="132C4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640080"/>
            <a:ext cx="384048" cy="1298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6070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21808" y="731520"/>
            <a:ext cx="3730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ISMS＋27017＋Pマークが選定前提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21808" y="1133856"/>
            <a:ext cx="37307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クラウド提供の実質必須ライン。これがないと選定テーブルに乗らない。ISMAP は公的クラウドを狙う判断で追加。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011680"/>
            <a:ext cx="4297680" cy="1298448"/>
          </a:xfrm>
          <a:prstGeom prst="roundRect">
            <a:avLst>
              <a:gd name="adj" fmla="val 7042"/>
            </a:avLst>
          </a:prstGeom>
          <a:solidFill>
            <a:srgbClr val="132C4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011680"/>
            <a:ext cx="384048" cy="12984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43230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2103120"/>
            <a:ext cx="3730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人を育てると組織の格が上がる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9808" y="2505456"/>
            <a:ext cx="37307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医療情報技師・AWS Professional/Specialty・CISSP の保有数が、パートナーティア・Competency・提案加点に直結。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2011680"/>
            <a:ext cx="4297680" cy="1298448"/>
          </a:xfrm>
          <a:prstGeom prst="roundRect">
            <a:avLst>
              <a:gd name="adj" fmla="val 7042"/>
            </a:avLst>
          </a:prstGeom>
          <a:solidFill>
            <a:srgbClr val="132C4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011680"/>
            <a:ext cx="384048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43230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21808" y="2103120"/>
            <a:ext cx="3730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業許可はスコープで決まる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21808" y="2505456"/>
            <a:ext cx="37307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 LIS は業許可不要。SaMD 機能を載せると薬機法、検体受託すると臨技法が発生。事前の該非判定相談が確実。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68880" y="3383280"/>
            <a:ext cx="4297680" cy="1298448"/>
          </a:xfrm>
          <a:prstGeom prst="roundRect">
            <a:avLst>
              <a:gd name="adj" fmla="val 7042"/>
            </a:avLst>
          </a:prstGeom>
          <a:solidFill>
            <a:srgbClr val="132C4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3383280"/>
            <a:ext cx="38404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8880" y="380390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3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44368" y="3474720"/>
            <a:ext cx="3730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HCLS Competency が最終目標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44368" y="3877056"/>
            <a:ext cx="37307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Advanced ティア＋医療事例4件で医療業界 AWS 公認。先に土台（ISMS・入札資格・個人認定）を固めて計画的に狙う。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0" y="4709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 &amp; 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2026-05-24T14:31:00Z</dcterms:created>
  <dcterms:modified xsi:type="dcterms:W3CDTF">2026-05-24T14:31:00Z</dcterms:modified>
</cp:coreProperties>
</file>